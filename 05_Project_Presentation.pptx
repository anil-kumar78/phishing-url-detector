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3200400" cy="402336"/>
          </a:xfrm>
          <a:prstGeom prst="rect">
            <a:avLst/>
          </a:prstGeom>
          <a:solidFill>
            <a:srgbClr val="101E38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88BFF"/>
                </a:solidFill>
                <a:latin typeface="Calibri"/>
              </a:rPr>
              <a:t>YHills Edutech  —  Internship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388BFF"/>
                </a:solidFill>
                <a:latin typeface="Calibri"/>
              </a:rPr>
              <a:t>PHISHING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An AI-Powered Machine Learning Solution for Real-Time Cybersecurity Threat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8229600" cy="36576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913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Student: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9136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Anil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9136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Institute: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9136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YHills Edutech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Guide: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622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Sakshi Pandey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462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4622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October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66360"/>
            <a:ext cx="5760720" cy="384048"/>
          </a:xfrm>
          <a:prstGeom prst="rect">
            <a:avLst/>
          </a:prstGeom>
          <a:solidFill>
            <a:srgbClr val="0B274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48072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C3AED"/>
                </a:solidFill>
                <a:latin typeface="Calibri"/>
              </a:rPr>
              <a:t>Domain: Cybersecurity — Threat Detection  |  Machine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What problem are we solving?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2606040" cy="1325880"/>
          </a:xfrm>
          <a:prstGeom prst="rect">
            <a:avLst/>
          </a:prstGeom>
          <a:solidFill>
            <a:srgbClr val="0C1E3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2763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4444"/>
                </a:solidFill>
                <a:latin typeface="Calibri"/>
              </a:rPr>
              <a:t>3.4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Phishing emails sent daily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508760"/>
            <a:ext cx="2606040" cy="1325880"/>
          </a:xfrm>
          <a:prstGeom prst="rect">
            <a:avLst/>
          </a:prstGeom>
          <a:solidFill>
            <a:srgbClr val="0C1E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62763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  <a:latin typeface="Calibri"/>
              </a:rPr>
              <a:t>$17,700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21284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Lost per minute to phishing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508760"/>
            <a:ext cx="2606040" cy="1325880"/>
          </a:xfrm>
          <a:prstGeom prst="rect">
            <a:avLst/>
          </a:prstGeom>
          <a:solidFill>
            <a:srgbClr val="0C1E34"/>
          </a:solidFill>
          <a:ln w="1905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162763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88BFF"/>
                </a:solidFill>
                <a:latin typeface="Calibri"/>
              </a:rPr>
              <a:t>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221284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Data breaches involve phishing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976" y="1508760"/>
            <a:ext cx="2606040" cy="1325880"/>
          </a:xfrm>
          <a:prstGeom prst="rect">
            <a:avLst/>
          </a:prstGeom>
          <a:solidFill>
            <a:srgbClr val="0C1E34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1976" y="162763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  <a:latin typeface="Calibri"/>
              </a:rPr>
              <a:t>83%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221284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Organisations faced phishing
in 2023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99232"/>
            <a:ext cx="11430000" cy="3383280"/>
          </a:xfrm>
          <a:prstGeom prst="rect">
            <a:avLst/>
          </a:prstGeom>
          <a:solidFill>
            <a:srgbClr val="0A182E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27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/>
              </a:rPr>
              <a:t>Core Problem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85032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61188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Phishing websites impersonate trusted services (banks, payment gateways) to steal credentials and financial data.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60520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08736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Attackers register deceptive URLs like  paypal-secure-login.update-account.xyz  that look convincing at first glance.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36008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562856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Traditional blacklists are reactive — new phishing domains appear faster than they can be manually blocked.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11496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038344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Users have no reliable, instant way to verify whether a suspicious URL is safe before clicking.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86984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51383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Solution: An AI-based system that analyses URL structure and flags phishing in real time — without visiting the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Six measurable goals this project achieves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3566160" cy="1828800"/>
          </a:xfrm>
          <a:prstGeom prst="rect">
            <a:avLst/>
          </a:prstGeom>
          <a:solidFill>
            <a:srgbClr val="0C1E34"/>
          </a:solidFill>
          <a:ln w="1524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3566160" cy="6400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673352"/>
            <a:ext cx="384048" cy="38404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6733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09928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/>
              </a:rPr>
              <a:t>Real-Time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58568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Classify any URL as Legitimate or Phishing in under 100 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1508760"/>
            <a:ext cx="3566160" cy="1828800"/>
          </a:xfrm>
          <a:prstGeom prst="rect">
            <a:avLst/>
          </a:prstGeom>
          <a:solidFill>
            <a:srgbClr val="0C1E34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3088" y="1508760"/>
            <a:ext cx="35661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1673352"/>
            <a:ext cx="38404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16733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1709928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258568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Extract 23 lexical features from URLs without making any HTTP request.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0416" y="1508760"/>
            <a:ext cx="3566160" cy="1828800"/>
          </a:xfrm>
          <a:prstGeom prst="rect">
            <a:avLst/>
          </a:prstGeom>
          <a:solidFill>
            <a:srgbClr val="0C1E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50876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673352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16733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4776" y="1709928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ML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6" y="2258568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Train a Random Forest model on 10,000 labelled URLs achieving &gt;= 95% accuracy.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20440"/>
            <a:ext cx="3566160" cy="1828800"/>
          </a:xfrm>
          <a:prstGeom prst="rect">
            <a:avLst/>
          </a:prstGeom>
          <a:solidFill>
            <a:srgbClr val="0C1E3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520440"/>
            <a:ext cx="35661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" y="3685032"/>
            <a:ext cx="384048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6850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721608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Interactive Web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70248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Deliver a Streamlit dashboard with gauge chart, feature table and scan history.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33088" y="3520440"/>
            <a:ext cx="3566160" cy="1828800"/>
          </a:xfrm>
          <a:prstGeom prst="rect">
            <a:avLst/>
          </a:prstGeom>
          <a:solidFill>
            <a:srgbClr val="0C1E34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33088" y="3520440"/>
            <a:ext cx="3566160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42816" y="3685032"/>
            <a:ext cx="384048" cy="38404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2816" y="36850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448" y="3721608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Automated Reporting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0248" y="4270248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Auto-generate confusion matrix, feature importance chart and metrics summary.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0416" y="3520440"/>
            <a:ext cx="3566160" cy="1828800"/>
          </a:xfrm>
          <a:prstGeom prst="rect">
            <a:avLst/>
          </a:prstGeom>
          <a:solidFill>
            <a:srgbClr val="0C1E34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520440"/>
            <a:ext cx="35661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0144" y="3685032"/>
            <a:ext cx="38404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0144" y="36850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94776" y="3721608"/>
            <a:ext cx="2880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Privacy-First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7576" y="4270248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Zero external HTTP calls — analysis is entirely offline and 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Existing Systems &amp;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Current approaches and why they fall short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3566160" cy="4114800"/>
          </a:xfrm>
          <a:prstGeom prst="rect">
            <a:avLst/>
          </a:prstGeom>
          <a:solidFill>
            <a:srgbClr val="141008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3566160" cy="4023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0B1A"/>
                </a:solidFill>
                <a:latin typeface="Calibri"/>
              </a:rPr>
              <a:t>Blacklist / Blocklist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59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Google Safe Browsing, PhishTank, OpenPhish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52927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43199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Reactive — only flag known phishing URLs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11295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01567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New domains bypass blocklists for hours/days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9663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59935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Require constant manual updates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8808" y="1508760"/>
            <a:ext cx="3566160" cy="4114800"/>
          </a:xfrm>
          <a:prstGeom prst="rect">
            <a:avLst/>
          </a:prstGeom>
          <a:solidFill>
            <a:srgbClr val="141008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78808" y="1508760"/>
            <a:ext cx="3566160" cy="4023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0B1A"/>
                </a:solidFill>
                <a:latin typeface="Calibri"/>
              </a:rPr>
              <a:t>Rule-Based Filters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2194559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084831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Email spam filters, browser URL heuristics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2852927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71416" y="2743199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Rigid rules — easy to bypass with minor variations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3511295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3401567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High false-positive rate on legitimate URLs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4169663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4059935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Cannot learn from new attack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1856" y="1508760"/>
            <a:ext cx="3566160" cy="4114800"/>
          </a:xfrm>
          <a:prstGeom prst="rect">
            <a:avLst/>
          </a:prstGeom>
          <a:solidFill>
            <a:srgbClr val="141008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1856" y="1508760"/>
            <a:ext cx="3566160" cy="4023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3296" y="152704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0B1A"/>
                </a:solidFill>
                <a:latin typeface="Calibri"/>
              </a:rPr>
              <a:t>Manual URL Inspection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9016" y="2194559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084831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Security analysts review suspicious URLs manually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9016" y="2852927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2743199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Extremely slow — not scalable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9016" y="3511295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3401567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Requires expert knowledge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9016" y="4169663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4464" y="4059935"/>
            <a:ext cx="3154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Impractical for real-time user protection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760720"/>
            <a:ext cx="11430000" cy="713232"/>
          </a:xfrm>
          <a:prstGeom prst="rect">
            <a:avLst/>
          </a:prstGeom>
          <a:solidFill>
            <a:srgbClr val="071C1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83387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Our Solution:  AI-based lexical URL analysis — real-time, offline, zero blacklist dependency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Our approach, workflow and key components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5303520" cy="4983480"/>
          </a:xfrm>
          <a:prstGeom prst="rect">
            <a:avLst/>
          </a:prstGeom>
          <a:solidFill>
            <a:srgbClr val="071A1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What We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03120"/>
            <a:ext cx="4754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Accept a raw URL as input from the user.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98064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24912"/>
            <a:ext cx="4754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Extract 23 lexical &amp; structural features (length, dots, HTTPS, keywords, subdomains...).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9856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346704"/>
            <a:ext cx="4754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Feed the feature vector to a pre-trained Random Forest Classifier.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41648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968496"/>
            <a:ext cx="4754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Predict: Legitimate (0) or Phishing (1) with a confidence percentage.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590288"/>
            <a:ext cx="4754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Display gauge chart, probability breakdown and full feature table.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85232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212080"/>
            <a:ext cx="4754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Log every scan to SQLite for history and audit purposes.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481328"/>
            <a:ext cx="5943600" cy="4983480"/>
          </a:xfrm>
          <a:prstGeom prst="rect">
            <a:avLst/>
          </a:prstGeom>
          <a:solidFill>
            <a:srgbClr val="071222"/>
          </a:solidFill>
          <a:ln w="1905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6276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/>
              </a:rPr>
              <a:t>Detection Workflow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103120"/>
            <a:ext cx="384048" cy="420624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10312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148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User pastes a URL into Streamlit 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761488"/>
            <a:ext cx="384048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761488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80720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extract_features() builds a 23-feature vector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419856"/>
            <a:ext cx="384048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3419856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46557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Loaded Random Forest model predicts the class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078224"/>
            <a:ext cx="384048" cy="42062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4078224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123944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Confidence % is shown on a Plotly gauge chart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736592"/>
            <a:ext cx="384048" cy="42062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4736592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7823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Feature table highlights risky attributes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5394960"/>
            <a:ext cx="384048" cy="4206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539496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B1A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4406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Scan saved to SQLite history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 &amp; Flowchart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End-to-end pipeline from URL input to classification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2377440" cy="1783080"/>
          </a:xfrm>
          <a:prstGeom prst="rect">
            <a:avLst/>
          </a:prstGeom>
          <a:solidFill>
            <a:srgbClr val="0C1E34"/>
          </a:solidFill>
          <a:ln w="254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2377440" cy="6400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9339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8BFF"/>
                </a:solidFill>
                <a:latin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70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Raw URL String
(user pastes 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&gt;&gt;&gt;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828800"/>
            <a:ext cx="2377440" cy="1783080"/>
          </a:xfrm>
          <a:prstGeom prst="rect">
            <a:avLst/>
          </a:prstGeom>
          <a:solidFill>
            <a:srgbClr val="0C1E34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360" y="1828800"/>
            <a:ext cx="237744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99339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FEATURE
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670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23 Lexical
&amp; Structural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&gt;&gt;&gt;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828800"/>
            <a:ext cx="2377440" cy="1783080"/>
          </a:xfrm>
          <a:prstGeom prst="rect">
            <a:avLst/>
          </a:prstGeom>
          <a:solidFill>
            <a:srgbClr val="0C1E3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1828800"/>
            <a:ext cx="23774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199339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ML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670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Random Forest
(200 Decision Trees)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&gt;&gt;&gt;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1828800"/>
            <a:ext cx="2377440" cy="1783080"/>
          </a:xfrm>
          <a:prstGeom prst="rect">
            <a:avLst/>
          </a:prstGeom>
          <a:solidFill>
            <a:srgbClr val="0C1E3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1828800"/>
            <a:ext cx="23774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199339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670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Legitimate / Phishing
+ Confidence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822191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Key Source Files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06824"/>
            <a:ext cx="54864" cy="24688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5196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8BFF"/>
                </a:solidFill>
                <a:latin typeface="Calibri"/>
              </a:rPr>
              <a:t>features/extract_features.py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25196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23 feature extraction functions — url_length, count_dots, uses_https, etc.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90872"/>
            <a:ext cx="54864" cy="246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3600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model/train_model.py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636008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Loads dataset, trains RandomForestClassifier, saves model.pkl and metadata.pkl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74920"/>
            <a:ext cx="54864" cy="246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2005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app.py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5020056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Streamlit web UI — URL input, gauge chart, feature table, scan history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458968"/>
            <a:ext cx="54864" cy="2468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40410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reports/generate_report.py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540410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Produces confusion matrix, feature importance and metrics_summary.txt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843016"/>
            <a:ext cx="54864" cy="2468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881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  <a:latin typeface="Calibri"/>
              </a:rPr>
              <a:t>run_all.py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5788152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One-command pipeline: train -&gt; test -&gt; report -&gt; launch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Technology &amp;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Languages, frameworks, libraries and tools used in this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194560" cy="1371600"/>
          </a:xfrm>
          <a:prstGeom prst="rect">
            <a:avLst/>
          </a:prstGeom>
          <a:solidFill>
            <a:srgbClr val="0C1E34"/>
          </a:solidFill>
          <a:ln w="1524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2194560" cy="6400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67335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/>
              </a:rPr>
              <a:t>Python 3.12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19456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Core programming language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1508760"/>
            <a:ext cx="2194560" cy="1371600"/>
          </a:xfrm>
          <a:prstGeom prst="rect">
            <a:avLst/>
          </a:prstGeom>
          <a:solidFill>
            <a:srgbClr val="0C1E34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508760"/>
            <a:ext cx="21945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67335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19456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Interactive web application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9784" y="1508760"/>
            <a:ext cx="2194560" cy="1371600"/>
          </a:xfrm>
          <a:prstGeom prst="rect">
            <a:avLst/>
          </a:prstGeom>
          <a:solidFill>
            <a:srgbClr val="0C1E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9784" y="1508760"/>
            <a:ext cx="21945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67335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19456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Random Forest ML classifier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34656" y="1508760"/>
            <a:ext cx="2194560" cy="1371600"/>
          </a:xfrm>
          <a:prstGeom prst="rect">
            <a:avLst/>
          </a:prstGeom>
          <a:solidFill>
            <a:srgbClr val="0C1E3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34656" y="1508760"/>
            <a:ext cx="21945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4" y="167335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pandas / numpy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4" y="219456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Data loading &amp; processing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39528" y="1508760"/>
            <a:ext cx="2194560" cy="1371600"/>
          </a:xfrm>
          <a:prstGeom prst="rect">
            <a:avLst/>
          </a:prstGeom>
          <a:solidFill>
            <a:srgbClr val="0C1E34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39528" y="1508760"/>
            <a:ext cx="2194560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9256" y="167335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Plotly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9256" y="219456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Gauge &amp; interactive UI charts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08960"/>
            <a:ext cx="2194560" cy="1371600"/>
          </a:xfrm>
          <a:prstGeom prst="rect">
            <a:avLst/>
          </a:prstGeom>
          <a:solidFill>
            <a:srgbClr val="0C1E34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108960"/>
            <a:ext cx="21945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327355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matplotlib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379476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Report chart generation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24912" y="3108960"/>
            <a:ext cx="2194560" cy="1371600"/>
          </a:xfrm>
          <a:prstGeom prst="rect">
            <a:avLst/>
          </a:prstGeom>
          <a:solidFill>
            <a:srgbClr val="0C1E34"/>
          </a:solidFill>
          <a:ln w="1524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24912" y="3108960"/>
            <a:ext cx="2194560" cy="64008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327355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/>
              </a:rPr>
              <a:t>tldextract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79476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Accurate TLD/subdomain parsing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9784" y="3108960"/>
            <a:ext cx="2194560" cy="1371600"/>
          </a:xfrm>
          <a:prstGeom prst="rect">
            <a:avLst/>
          </a:prstGeom>
          <a:solidFill>
            <a:srgbClr val="0C1E34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29784" y="3108960"/>
            <a:ext cx="21945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9512" y="327355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SQLite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9512" y="379476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Scan history database storage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34656" y="3108960"/>
            <a:ext cx="2194560" cy="1371600"/>
          </a:xfrm>
          <a:prstGeom prst="rect">
            <a:avLst/>
          </a:prstGeom>
          <a:solidFill>
            <a:srgbClr val="0C1E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34656" y="3108960"/>
            <a:ext cx="21945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44384" y="327355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joblib / pickle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44384" y="379476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Model serialisation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39528" y="3108960"/>
            <a:ext cx="2194560" cy="1371600"/>
          </a:xfrm>
          <a:prstGeom prst="rect">
            <a:avLst/>
          </a:prstGeom>
          <a:solidFill>
            <a:srgbClr val="0C1E3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39528" y="3108960"/>
            <a:ext cx="21945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9256" y="327355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urllib.parse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49256" y="379476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URL component parsing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925312"/>
            <a:ext cx="11521440" cy="530352"/>
          </a:xfrm>
          <a:prstGeom prst="rect">
            <a:avLst/>
          </a:prstGeom>
          <a:solidFill>
            <a:srgbClr val="071222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99846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All dependencies listed in  requirements.txt  — install with:  pip install -r requirements.txt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Important modules, algorithms and screenshots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5029200" cy="4983480"/>
          </a:xfrm>
          <a:prstGeom prst="rect">
            <a:avLst/>
          </a:prstGeom>
          <a:solidFill>
            <a:srgbClr val="0C1E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23 Extracted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84831"/>
            <a:ext cx="54864" cy="777240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84831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8BFF"/>
                </a:solidFill>
                <a:latin typeface="Calibri"/>
              </a:rPr>
              <a:t>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2303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url_length, domain_length, path_length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3"/>
            <a:ext cx="54864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72383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Char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19855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count_dots, count_hyphens, count_at, count_digits,
count_slashes, count_percent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59935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59935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7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uses_https, is_ip_address, has_at_symbol,
has_double_slash_redirect, is_url_shortener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47487"/>
            <a:ext cx="54864" cy="777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47487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Heuristics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59"/>
            <a:ext cx="4480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num_subdomains, digit_to_letter_ratio,
suspicious_keyword_count, has_suspicious_keyword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148132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/>
              </a:rPr>
              <a:t>Application Screenshot</a:t>
            </a:r>
          </a:p>
        </p:txBody>
      </p:sp>
      <p:pic>
        <p:nvPicPr>
          <p:cNvPr id="23" name="Picture 22" descr="01_app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874519"/>
            <a:ext cx="6217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Testing &amp;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15 test cases, evaluation metrics and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2606040" cy="1261872"/>
          </a:xfrm>
          <a:prstGeom prst="rect">
            <a:avLst/>
          </a:prstGeom>
          <a:solidFill>
            <a:srgbClr val="0C1E3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3113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481328"/>
            <a:ext cx="2606040" cy="1261872"/>
          </a:xfrm>
          <a:prstGeom prst="rect">
            <a:avLst/>
          </a:prstGeom>
          <a:solidFill>
            <a:srgbClr val="0C1E34"/>
          </a:solidFill>
          <a:ln w="254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57276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8BFF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23113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481328"/>
            <a:ext cx="2606040" cy="1261872"/>
          </a:xfrm>
          <a:prstGeom prst="rect">
            <a:avLst/>
          </a:prstGeom>
          <a:solidFill>
            <a:srgbClr val="0C1E34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157276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3AED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223113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976" y="1481328"/>
            <a:ext cx="2606040" cy="1261872"/>
          </a:xfrm>
          <a:prstGeom prst="rect">
            <a:avLst/>
          </a:prstGeom>
          <a:solidFill>
            <a:srgbClr val="0C1E3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1976" y="157276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BF24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223113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F1-Score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38404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88036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B1A"/>
                </a:solidFill>
                <a:latin typeface="Calibri"/>
              </a:rPr>
              <a:t>#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880360"/>
            <a:ext cx="566928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88036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B1A"/>
                </a:solidFill>
                <a:latin typeface="Calibri"/>
              </a:rPr>
              <a:t>URL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880360"/>
            <a:ext cx="228600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88036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B1A"/>
                </a:solidFill>
                <a:latin typeface="Calibri"/>
              </a:rPr>
              <a:t>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880360"/>
            <a:ext cx="283464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88036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0B1A"/>
                </a:solidFill>
                <a:latin typeface="Calibri"/>
              </a:rPr>
              <a:t>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36976"/>
            <a:ext cx="11430000" cy="237744"/>
          </a:xfrm>
          <a:prstGeom prst="rect">
            <a:avLst/>
          </a:prstGeom>
          <a:solidFill>
            <a:srgbClr val="0C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" y="3236976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3236976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https://www.google.com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323697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Clean HTTPS trusted 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3236976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Calibri"/>
              </a:rPr>
              <a:t>LEGITIMATE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474720"/>
            <a:ext cx="11430000" cy="237744"/>
          </a:xfrm>
          <a:prstGeom prst="rect">
            <a:avLst/>
          </a:prstGeom>
          <a:solidFill>
            <a:srgbClr val="091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347472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347472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https://github.com/user/repo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1112" y="347472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Standard developer repo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3474720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Calibri"/>
              </a:rPr>
              <a:t>LEGITIMATE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712464"/>
            <a:ext cx="11430000" cy="237744"/>
          </a:xfrm>
          <a:prstGeom prst="rect">
            <a:avLst/>
          </a:prstGeom>
          <a:solidFill>
            <a:srgbClr val="0C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371246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3712464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https://www.wikipedia.org/wiki/Phishing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371246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Trusted encyclopedia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552" y="3712464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Calibri"/>
              </a:rPr>
              <a:t>LEGITIMATE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950208"/>
            <a:ext cx="11430000" cy="237744"/>
          </a:xfrm>
          <a:prstGeom prst="rect">
            <a:avLst/>
          </a:prstGeom>
          <a:solidFill>
            <a:srgbClr val="091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3950208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" y="39502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https://stackoverflow.com/questions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395020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Developer Q&amp;A site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8552" y="395020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Calibri"/>
              </a:rPr>
              <a:t>LEGITIMATE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187952"/>
            <a:ext cx="11430000" cy="237744"/>
          </a:xfrm>
          <a:prstGeom prst="rect">
            <a:avLst/>
          </a:prstGeom>
          <a:solidFill>
            <a:srgbClr val="0C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4187952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" y="4187952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https://www.microsoft.com/en-us/windows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418795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Official Microsoft site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88552" y="418795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Calibri"/>
              </a:rPr>
              <a:t>LEGITIMATE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425696"/>
            <a:ext cx="11430000" cy="237744"/>
          </a:xfrm>
          <a:prstGeom prst="rect">
            <a:avLst/>
          </a:prstGeom>
          <a:solidFill>
            <a:srgbClr val="091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" y="4425696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4425696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https://www.youtube.com/watch?v=...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11112" y="442569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Legitimate query params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88552" y="4425696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Calibri"/>
              </a:rPr>
              <a:t>LEGITIMATE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663440"/>
            <a:ext cx="11430000" cy="237744"/>
          </a:xfrm>
          <a:prstGeom prst="rect">
            <a:avLst/>
          </a:prstGeom>
          <a:solidFill>
            <a:srgbClr val="0C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" y="466344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" y="46634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https://www.linkedin.com/in/profile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1112" y="466344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LinkedIn social profile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4663440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Calibri"/>
              </a:rPr>
              <a:t>LEGITIMATE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901184"/>
            <a:ext cx="11430000" cy="237744"/>
          </a:xfrm>
          <a:prstGeom prst="rect">
            <a:avLst/>
          </a:prstGeom>
          <a:solidFill>
            <a:srgbClr val="091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" y="49011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" y="4901184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http://paypal-secure-login.update-account.xyz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11112" y="490118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Brand impersonation + bad TLD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4901184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  <a:latin typeface="Calibri"/>
              </a:rPr>
              <a:t>PHISHING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5138928"/>
            <a:ext cx="11430000" cy="237744"/>
          </a:xfrm>
          <a:prstGeom prst="rect">
            <a:avLst/>
          </a:prstGeom>
          <a:solidFill>
            <a:srgbClr val="0C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3192" y="5138928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392" y="513892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http://192.168.1.1/login/verify?cmd=account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11112" y="513892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Raw IP + suspicious keywords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513892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  <a:latin typeface="Calibri"/>
              </a:rPr>
              <a:t>PHISHING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376672"/>
            <a:ext cx="11430000" cy="237744"/>
          </a:xfrm>
          <a:prstGeom prst="rect">
            <a:avLst/>
          </a:prstGeom>
          <a:solidFill>
            <a:srgbClr val="091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3192" y="5376672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0392" y="5376672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http://bit.ly/3xABCDE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11112" y="537667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URL shortener hides dest.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537667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  <a:latin typeface="Calibri"/>
              </a:rPr>
              <a:t>PHISHING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614416"/>
            <a:ext cx="11430000" cy="237744"/>
          </a:xfrm>
          <a:prstGeom prst="rect">
            <a:avLst/>
          </a:prstGeom>
          <a:solidFill>
            <a:srgbClr val="0C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" y="5614416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2" y="5614416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http://amazon.com.phish-site.tk/signin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11112" y="561441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amazon.com used as subdomain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5614416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  <a:latin typeface="Calibri"/>
              </a:rPr>
              <a:t>PHISHING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852160"/>
            <a:ext cx="11430000" cy="237744"/>
          </a:xfrm>
          <a:prstGeom prst="rect">
            <a:avLst/>
          </a:prstGeom>
          <a:solidFill>
            <a:srgbClr val="091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3192" y="585216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0392" y="585216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http://secure.paypal-verify.ml/webscr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11112" y="585216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Fake PayPal + suspicious TLD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5852160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  <a:latin typeface="Calibri"/>
              </a:rPr>
              <a:t>PHISHING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6089904"/>
            <a:ext cx="11430000" cy="237744"/>
          </a:xfrm>
          <a:prstGeom prst="rect">
            <a:avLst/>
          </a:prstGeom>
          <a:solidFill>
            <a:srgbClr val="0C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93192" y="608990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0392" y="6089904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http://netflix-account-suspended.top/billing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11112" y="6089904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Brand + suspended + bad TLD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6089904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  <a:latin typeface="Calibri"/>
              </a:rPr>
              <a:t>PHISHING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6327648"/>
            <a:ext cx="11430000" cy="237744"/>
          </a:xfrm>
          <a:prstGeom prst="rect">
            <a:avLst/>
          </a:prstGeom>
          <a:solidFill>
            <a:srgbClr val="091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3192" y="6327648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392" y="63276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http://login.microsoft.com.verify-account.xyz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11112" y="632764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Microsoft impersonation chain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632764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  <a:latin typeface="Calibri"/>
              </a:rPr>
              <a:t>PHISHING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6565392"/>
            <a:ext cx="11430000" cy="237744"/>
          </a:xfrm>
          <a:prstGeom prst="rect">
            <a:avLst/>
          </a:prstGeom>
          <a:solidFill>
            <a:srgbClr val="0C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93192" y="6565392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50392" y="6565392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http://185.220.101.50/download/setup.exe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611112" y="6565392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IP-based malware URL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6565392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F4444"/>
                </a:solidFill>
                <a:latin typeface="Calibri"/>
              </a:rPr>
              <a:t>PHISHING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Limitations &amp;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Current gaps in the system and planned improvements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5440680" cy="4983480"/>
          </a:xfrm>
          <a:prstGeom prst="rect">
            <a:avLst/>
          </a:prstGeom>
          <a:solidFill>
            <a:srgbClr val="180C0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Current Limitations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03120"/>
            <a:ext cx="4892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Lexical analysis only — does not inspect page content or forms.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98064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24912"/>
            <a:ext cx="4892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Zero-day phishing with clean HTTPS may not be detected (false negative).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9856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346704"/>
            <a:ext cx="4892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URL shorteners flagged categorically; some legitimate links may be over-flagged.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41648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968496"/>
            <a:ext cx="4892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 WHOIS, DNS reputation or domain-age lookup.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590288"/>
            <a:ext cx="4892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 SSL certificate chain validation.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85232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212080"/>
            <a:ext cx="4892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Dataset is synthetically generated — may not fully generalise to all real URLs.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481328"/>
            <a:ext cx="5806440" cy="4983480"/>
          </a:xfrm>
          <a:prstGeom prst="rect">
            <a:avLst/>
          </a:prstGeom>
          <a:solidFill>
            <a:srgbClr val="071A1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627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Future Enhancements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176272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103120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Integrate real-world datasets (Kaggle PhiUSIIL / UCI).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798064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724912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Add WHOIS lookup, DNS reputation and domain-age features.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419856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346704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Deep Learning (LSTM / BERT) for URL sequence modelling.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041648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968496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Browser extension for real-time URL interception.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63440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590288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REST API for enterprise security tool integration.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85232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5212080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Active learning loop with user-submitted URL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Key outcome and major learning from this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11430000" cy="4206240"/>
          </a:xfrm>
          <a:prstGeom prst="rect">
            <a:avLst/>
          </a:prstGeom>
          <a:solidFill>
            <a:srgbClr val="071422"/>
          </a:solidFill>
          <a:ln w="1524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/>
              </a:rPr>
              <a:t>What Was Achieved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57983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84831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Successfully built a fully functional, AI-powered Phishing URL Detection System in Python.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06623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633471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Engineered 23 lexical features covering URL length, character patterns, security flags and phishing heuristics.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55263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82111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Trained a Random Forest Classifier on 10,000 labelled URLs — achieved 100% accuracy on the 2,000-URL test set with zero false positives and zero false negatives.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03903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730751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Delivered an interactive Streamlit web application with real-time gauge chart, full feature breakdown table, SQLite scan history and auto-generated evaluation reports.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52543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279391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Demonstrated that URL-structural analysis alone is a powerful and practical detection strategy — no blacklists, no HTTP requests and no page rendering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01183"/>
            <a:ext cx="54864" cy="256032"/>
          </a:xfrm>
          <a:prstGeom prst="rect">
            <a:avLst/>
          </a:prstGeom>
          <a:solidFill>
            <a:srgbClr val="3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828031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The project covers the complete ML pipeline: data generation, feature extraction, model training, evaluation, reporting and deployment in a single codebase.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52160"/>
            <a:ext cx="11430000" cy="621792"/>
          </a:xfrm>
          <a:prstGeom prst="rect">
            <a:avLst/>
          </a:prstGeom>
          <a:solidFill>
            <a:srgbClr val="041A1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92531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  <a:latin typeface="Calibri"/>
              </a:rPr>
              <a:t>Cybersecurity Learning:  Phishing remains the #1 attack vector. Feature-based ML analysis can detect it in real time — making the internet safer for everyone.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56248"/>
            <a:ext cx="110916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Phishing URL Detection System  |  Anil Kumar  |  YHills Edutech  |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5562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Live Demo &amp;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Run the project and ask questions</a:t>
            </a:r>
          </a:p>
        </p:txBody>
      </p:sp>
      <p:pic>
        <p:nvPicPr>
          <p:cNvPr id="8" name="Picture 7" descr="03_phishing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5532120" cy="3703320"/>
          </a:xfrm>
          <a:prstGeom prst="rect">
            <a:avLst/>
          </a:prstGeom>
        </p:spPr>
      </p:pic>
      <p:pic>
        <p:nvPicPr>
          <p:cNvPr id="9" name="Picture 8" descr="08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81328"/>
            <a:ext cx="3017520" cy="1828800"/>
          </a:xfrm>
          <a:prstGeom prst="rect">
            <a:avLst/>
          </a:prstGeom>
        </p:spPr>
      </p:pic>
      <p:pic>
        <p:nvPicPr>
          <p:cNvPr id="10" name="Picture 9" descr="09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481328"/>
            <a:ext cx="2651760" cy="1828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35040" y="3456432"/>
            <a:ext cx="5806440" cy="2103120"/>
          </a:xfrm>
          <a:prstGeom prst="rect">
            <a:avLst/>
          </a:prstGeom>
          <a:solidFill>
            <a:srgbClr val="071222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566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F"/>
                </a:solidFill>
                <a:latin typeface="Calibri"/>
              </a:rPr>
              <a:t>How to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00507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Step 1 — Install dependencies: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6966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pip install -r requirements.txt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891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Step 2 — Full pipeline (train + test + report):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5537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python run_all.py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7316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Step 3 — Launch web app: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9377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streamlit run app.py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157216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Browser URL: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218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http://localhost:8501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77840"/>
            <a:ext cx="11430000" cy="841248"/>
          </a:xfrm>
          <a:prstGeom prst="rect">
            <a:avLst/>
          </a:prstGeom>
          <a:solidFill>
            <a:srgbClr val="041022"/>
          </a:solidFill>
          <a:ln w="12700">
            <a:solidFill>
              <a:srgbClr val="3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66928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Thank You!   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